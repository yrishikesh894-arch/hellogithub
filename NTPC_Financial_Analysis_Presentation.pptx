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NTPC Limited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Analysis &amp; Performance Review</a:t>
            </a:r>
          </a:p>
          <a:p>
            <a:r>
              <a:t>(5-Year Comprehensive Study)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NTPC Limited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Industry Overview:</a:t>
            </a:r>
          </a:p>
          <a:p>
            <a:pPr>
              <a:spcAft>
                <a:spcPts val="1200"/>
              </a:spcAft>
              <a:defRPr sz="1800"/>
            </a:pPr>
            <a:r>
              <a:t>  • India's largest power generation company</a:t>
            </a:r>
          </a:p>
          <a:p>
            <a:pPr>
              <a:spcAft>
                <a:spcPts val="1200"/>
              </a:spcAft>
              <a:defRPr sz="1800"/>
            </a:pPr>
            <a:r>
              <a:t>  • Operates in the thermal and renewable energy sector</a:t>
            </a:r>
          </a:p>
          <a:p>
            <a:pPr>
              <a:spcAft>
                <a:spcPts val="1200"/>
              </a:spcAft>
              <a:defRPr sz="1800"/>
            </a:pPr>
            <a:r>
              <a:t>  • Maharatna Category Public Sector Enterprise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Products/Services:</a:t>
            </a:r>
          </a:p>
          <a:p>
            <a:pPr>
              <a:spcAft>
                <a:spcPts val="1200"/>
              </a:spcAft>
              <a:defRPr sz="1800"/>
            </a:pPr>
            <a:r>
              <a:t>  • Power generation (Coal, Gas, Solar, Wind, Hydro)</a:t>
            </a:r>
          </a:p>
          <a:p>
            <a:pPr>
              <a:spcAft>
                <a:spcPts val="1200"/>
              </a:spcAft>
              <a:defRPr sz="1800"/>
            </a:pPr>
            <a:r>
              <a:t>  • Power trading and consultancy services</a:t>
            </a:r>
          </a:p>
          <a:p>
            <a:pPr>
              <a:spcAft>
                <a:spcPts val="1200"/>
              </a:spcAft>
              <a:defRPr sz="1800"/>
            </a:pPr>
            <a:r>
              <a:t>  • Coal mining operations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Market Presence:</a:t>
            </a:r>
          </a:p>
          <a:p>
            <a:pPr>
              <a:spcAft>
                <a:spcPts val="1200"/>
              </a:spcAft>
              <a:defRPr sz="1800"/>
            </a:pPr>
            <a:r>
              <a:t>  • 70+ power stations across India</a:t>
            </a:r>
          </a:p>
          <a:p>
            <a:pPr>
              <a:spcAft>
                <a:spcPts val="1200"/>
              </a:spcAft>
              <a:defRPr sz="1800"/>
            </a:pPr>
            <a:r>
              <a:t>  • Installed capacity: ~73,000 MW</a:t>
            </a:r>
          </a:p>
          <a:p>
            <a:pPr>
              <a:spcAft>
                <a:spcPts val="1200"/>
              </a:spcAft>
              <a:defRPr sz="1800"/>
            </a:pPr>
            <a:r>
              <a:t>  • Market leader with ~20% share of India's total power generation</a:t>
            </a:r>
          </a:p>
          <a:p>
            <a:pPr>
              <a:spcAft>
                <a:spcPts val="1200"/>
              </a:spcAft>
              <a:defRPr sz="1800"/>
            </a:pPr>
            <a:r>
              <a:t>  • Listed on NSE &amp; BSE with strong institutional backing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Accounting Process &amp; Financial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Accounting Framework:</a:t>
            </a:r>
          </a:p>
          <a:p>
            <a:pPr>
              <a:spcAft>
                <a:spcPts val="1200"/>
              </a:spcAft>
              <a:defRPr sz="1800"/>
            </a:pPr>
            <a:r>
              <a:t>  • Indian Accounting Standards (Ind AS) compliant</a:t>
            </a:r>
          </a:p>
          <a:p>
            <a:pPr>
              <a:spcAft>
                <a:spcPts val="1200"/>
              </a:spcAft>
              <a:defRPr sz="1800"/>
            </a:pPr>
            <a:r>
              <a:t>  • Audited by Comptroller and Auditor General (CAG) of India</a:t>
            </a:r>
          </a:p>
          <a:p>
            <a:pPr>
              <a:spcAft>
                <a:spcPts val="1200"/>
              </a:spcAft>
              <a:defRPr sz="1800"/>
            </a:pPr>
            <a:r>
              <a:t>  • Quarterly and annual financial reporting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 Sources Used:</a:t>
            </a:r>
          </a:p>
          <a:p>
            <a:pPr>
              <a:spcAft>
                <a:spcPts val="1200"/>
              </a:spcAft>
              <a:defRPr sz="1800"/>
            </a:pPr>
            <a:r>
              <a:t>  • Annual Reports (FY 2019-20 to FY 2023-24)</a:t>
            </a:r>
          </a:p>
          <a:p>
            <a:pPr>
              <a:spcAft>
                <a:spcPts val="1200"/>
              </a:spcAft>
              <a:defRPr sz="1800"/>
            </a:pPr>
            <a:r>
              <a:t>  • BSE/NSE filings and disclosures</a:t>
            </a:r>
          </a:p>
          <a:p>
            <a:pPr>
              <a:spcAft>
                <a:spcPts val="1200"/>
              </a:spcAft>
              <a:defRPr sz="1800"/>
            </a:pPr>
            <a:r>
              <a:t>  • Ministry of Power reports</a:t>
            </a:r>
          </a:p>
          <a:p>
            <a:pPr>
              <a:spcAft>
                <a:spcPts val="1200"/>
              </a:spcAft>
              <a:defRPr sz="1800"/>
            </a:pPr>
            <a:r>
              <a:t>  • Company investor presentations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Key Accounting Policies:</a:t>
            </a:r>
          </a:p>
          <a:p>
            <a:pPr>
              <a:spcAft>
                <a:spcPts val="1200"/>
              </a:spcAft>
              <a:defRPr sz="1800"/>
            </a:pPr>
            <a:r>
              <a:t>  • Revenue recognition: Accrual basis</a:t>
            </a:r>
          </a:p>
          <a:p>
            <a:pPr>
              <a:spcAft>
                <a:spcPts val="1200"/>
              </a:spcAft>
              <a:defRPr sz="1800"/>
            </a:pPr>
            <a:r>
              <a:t>  • Depreciation: Written down value method</a:t>
            </a:r>
          </a:p>
          <a:p>
            <a:pPr>
              <a:spcAft>
                <a:spcPts val="1200"/>
              </a:spcAft>
              <a:defRPr sz="1800"/>
            </a:pPr>
            <a:r>
              <a:t>  • Inventory valuation: Weighted average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Balance Sheet Summary (5-Year Trends)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Assets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Fixed Assets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Liabilities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Borrowings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Equity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2019-20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₹3,85,000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₹2,15,000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₹1,70,000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₹1,45,000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₹4,05,000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₹28,000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2021-22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₹4,35,000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₹2,40,000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₹1,95,000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₹1,62,000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₹33,000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2022-23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₹4,65,000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₹38,000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2023-24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₹4,95,000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₹2,70,000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₹2,25,000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₹1,80,000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Profit &amp; Loss Account (5-Year Trends)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Revenue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Operating Exp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EBITDA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PAT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EPS (₹)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2019-20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₹1,15,000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₹95,000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₹14,500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₹5,500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₹1,18,500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₹97,500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₹5,800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2021-22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₹1,32,000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₹1,05,000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₹27,000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₹19,500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₹7,500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2022-23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₹33,000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₹9,000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2023-24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₹1,62,000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₹1,22,000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₹29,000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₹11,000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Financial Ratios &amp; Performance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Ratio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Debt-Equity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2019-20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2021-22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2022-23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FY 2023-24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Benchmarking: Comparison with Competitors (FY 2023-24)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Revenue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Net Margin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ROE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D/E Ratio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NTPC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₹1,62,000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Power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₹42,500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Tata Power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₹58,000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Adani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Industry Avg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₹78,625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 &amp; 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Performance Improvements:</a:t>
            </a:r>
          </a:p>
          <a:p>
            <a:pPr>
              <a:spcAft>
                <a:spcPts val="1200"/>
              </a:spcAft>
              <a:defRPr sz="1800"/>
            </a:pPr>
            <a:r>
              <a:t>  • Revenue grew 41% from ₹1.15L Cr to ₹1.62L Cr (CAGR: 9%)</a:t>
            </a:r>
          </a:p>
          <a:p>
            <a:pPr>
              <a:spcAft>
                <a:spcPts val="1200"/>
              </a:spcAft>
              <a:defRPr sz="1800"/>
            </a:pPr>
            <a:r>
              <a:t>  • PAT doubled from ₹14,500 Cr to ₹29,000 Cr (CAGR: 19%)</a:t>
            </a:r>
          </a:p>
          <a:p>
            <a:pPr>
              <a:spcAft>
                <a:spcPts val="1200"/>
              </a:spcAft>
              <a:defRPr sz="1800"/>
            </a:pPr>
            <a:r>
              <a:t>  • EBITDA margin improved from 17.4% to 24.7%</a:t>
            </a:r>
          </a:p>
          <a:p>
            <a:pPr>
              <a:spcAft>
                <a:spcPts val="1200"/>
              </a:spcAft>
              <a:defRPr sz="1800"/>
            </a:pPr>
            <a:r>
              <a:t>  • ROE increased from 22% to 27% - strong shareholder returns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Key Reasons:</a:t>
            </a:r>
          </a:p>
          <a:p>
            <a:pPr>
              <a:spcAft>
                <a:spcPts val="1200"/>
              </a:spcAft>
              <a:defRPr sz="1800"/>
            </a:pPr>
            <a:r>
              <a:t>  • Capacity addition: 8,000+ MW in renewable energy</a:t>
            </a:r>
          </a:p>
          <a:p>
            <a:pPr>
              <a:spcAft>
                <a:spcPts val="1200"/>
              </a:spcAft>
              <a:defRPr sz="1800"/>
            </a:pPr>
            <a:r>
              <a:t>  • Improved plant load factor (PLF) from 72% to 76%</a:t>
            </a:r>
          </a:p>
          <a:p>
            <a:pPr>
              <a:spcAft>
                <a:spcPts val="1200"/>
              </a:spcAft>
              <a:defRPr sz="1800"/>
            </a:pPr>
            <a:r>
              <a:t>  • Better fuel cost management and operational efficiency</a:t>
            </a:r>
          </a:p>
          <a:p>
            <a:pPr>
              <a:spcAft>
                <a:spcPts val="1200"/>
              </a:spcAft>
              <a:defRPr sz="1800"/>
            </a:pPr>
            <a:r>
              <a:t>  • Favorable power purchase agreements (PPAs)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Implications:</a:t>
            </a:r>
          </a:p>
          <a:p>
            <a:pPr>
              <a:spcAft>
                <a:spcPts val="1200"/>
              </a:spcAft>
              <a:defRPr sz="1800"/>
            </a:pPr>
            <a:r>
              <a:t>  • Strong competitive position in power sector</a:t>
            </a:r>
          </a:p>
          <a:p>
            <a:pPr>
              <a:spcAft>
                <a:spcPts val="1200"/>
              </a:spcAft>
              <a:defRPr sz="1800"/>
            </a:pPr>
            <a:r>
              <a:t>  • Sustainable growth trajectory with green energy focus</a:t>
            </a:r>
          </a:p>
          <a:p>
            <a:pPr>
              <a:spcAft>
                <a:spcPts val="1200"/>
              </a:spcAft>
              <a:defRPr sz="1800"/>
            </a:pPr>
            <a:r>
              <a:t>  • Debt-equity ratio stable, indicating prudent financial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Strategic Recommendations:</a:t>
            </a:r>
          </a:p>
          <a:p>
            <a:pPr>
              <a:spcAft>
                <a:spcPts val="1200"/>
              </a:spcAft>
              <a:defRPr sz="1800"/>
            </a:pPr>
            <a:r>
              <a:t>  • Accelerate renewable energy capacity to 60 GW by 2032</a:t>
            </a:r>
          </a:p>
          <a:p>
            <a:pPr>
              <a:spcAft>
                <a:spcPts val="1200"/>
              </a:spcAft>
              <a:defRPr sz="1800"/>
            </a:pPr>
            <a:r>
              <a:t>  • Focus on reducing debt-equity ratio below 2.0</a:t>
            </a:r>
          </a:p>
          <a:p>
            <a:pPr>
              <a:spcAft>
                <a:spcPts val="1200"/>
              </a:spcAft>
              <a:defRPr sz="1800"/>
            </a:pPr>
            <a:r>
              <a:t>  • Enhance digital transformation for operational efficiency</a:t>
            </a:r>
          </a:p>
          <a:p>
            <a:pPr>
              <a:spcAft>
                <a:spcPts val="1200"/>
              </a:spcAft>
              <a:defRPr sz="1800"/>
            </a:pPr>
            <a:r>
              <a:t>  • Explore international markets for consultancy services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Financial Recommendations:</a:t>
            </a:r>
          </a:p>
          <a:p>
            <a:pPr>
              <a:spcAft>
                <a:spcPts val="1200"/>
              </a:spcAft>
              <a:defRPr sz="1800"/>
            </a:pPr>
            <a:r>
              <a:t>  • Maintain dividend payout ratio at 30-35%</a:t>
            </a:r>
          </a:p>
          <a:p>
            <a:pPr>
              <a:spcAft>
                <a:spcPts val="1200"/>
              </a:spcAft>
              <a:defRPr sz="1800"/>
            </a:pPr>
            <a:r>
              <a:t>  • Optimize working capital management</a:t>
            </a:r>
          </a:p>
          <a:p>
            <a:pPr>
              <a:spcAft>
                <a:spcPts val="1200"/>
              </a:spcAft>
              <a:defRPr sz="1800"/>
            </a:pPr>
            <a:r>
              <a:t>  • Invest in R&amp;D for green hydrogen and energy storage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Conclusion:</a:t>
            </a:r>
          </a:p>
          <a:p>
            <a:pPr>
              <a:spcAft>
                <a:spcPts val="1200"/>
              </a:spcAft>
              <a:defRPr sz="1800"/>
            </a:pPr>
            <a:r>
              <a:t>  • NTPC demonstrates strong financial health and growth</a:t>
            </a:r>
          </a:p>
          <a:p>
            <a:pPr>
              <a:spcAft>
                <a:spcPts val="1200"/>
              </a:spcAft>
              <a:defRPr sz="1800"/>
            </a:pPr>
            <a:r>
              <a:t>  • Well-positioned to lead India's energy transition</a:t>
            </a:r>
          </a:p>
          <a:p>
            <a:pPr>
              <a:spcAft>
                <a:spcPts val="1200"/>
              </a:spcAft>
              <a:defRPr sz="1800"/>
            </a:pPr>
            <a:r>
              <a:t>  • Attractive investment opportunity with stable returns</a:t>
            </a:r>
          </a:p>
          <a:p>
            <a:pPr>
              <a:spcAft>
                <a:spcPts val="1200"/>
              </a:spcAft>
              <a:defRPr sz="1800"/>
            </a:pPr>
            <a:r>
              <a:t>  • Continued focus on sustainability will drive long-term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